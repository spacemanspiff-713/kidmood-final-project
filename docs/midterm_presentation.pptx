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5C9A"/>
          </a:solidFill>
          <a:ln w="12700">
            <a:solidFill>
              <a:srgbClr val="2B5C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Jason Trimble • ITAI 1378 • Midterm Project Proposal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789920" y="65836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B5C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KidMood</a:t>
            </a:r>
            <a:endParaRPr lang="en-US" sz="9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1695" cy="62179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23444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E5EFFC"/>
          </a:solidFill>
          <a:ln w="12700">
            <a:solidFill>
              <a:srgbClr val="E5EF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00200"/>
            <a:ext cx="40233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C7D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87168" y="20116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🙂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25880" y="31821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877"/>
                </a:solidFill>
              </a:rPr>
              <a:t>Happy • Sad • Angry • Fear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0" y="15544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KidMood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715000" y="22402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C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Emotion Recognition with FER-2013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278892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Jason Trimble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Project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2 - Transfer Learning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ITAI 1378: Computer Vision and AI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87568" y="4526280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2B5C9A"/>
          </a:solidFill>
          <a:ln w="12700">
            <a:solidFill>
              <a:srgbClr val="2B5C9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4572000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proposal focused on a realistic build, not theory.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823960" y="402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8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868680"/>
            <a:ext cx="11064240" cy="0"/>
          </a:xfrm>
          <a:prstGeom prst="line">
            <a:avLst/>
          </a:prstGeom>
          <a:noFill/>
          <a:ln w="12700">
            <a:solidFill>
              <a:srgbClr val="C9D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43000"/>
            <a:ext cx="3657600" cy="42976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24F"/>
                </a:solidFill>
              </a:rPr>
              <a:t>What real-world problem are you solving?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D3748"/>
                </a:solidFill>
              </a:rPr>
              <a:t>Teachers and caregivers cannot continuously monitor every student's emotional state during class or group activities.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B96D20"/>
          </a:solidFill>
          <a:ln w="12700">
            <a:solidFill>
              <a:srgbClr val="B96D2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82312" y="128016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783080"/>
            <a:ext cx="64008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057400"/>
            <a:ext cx="56692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cares: teachers, parents, counselors, and school staff.</a:t>
            </a:r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signs of distress or anger can hurt engagement, behavior, and classroom safety.</a:t>
            </a:r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lightweight emotion-recognition tool can provide an early warning signal without needing a complex system.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Overview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823960" y="402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8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868680"/>
            <a:ext cx="11064240" cy="0"/>
          </a:xfrm>
          <a:prstGeom prst="line">
            <a:avLst/>
          </a:prstGeom>
          <a:noFill/>
          <a:ln w="12700">
            <a:solidFill>
              <a:srgbClr val="C9D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65379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598932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takes a face image or video frame as input.</a:t>
            </a:r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trained model predicts one of four emotions: Happy, Sad, Angry, or Fear.</a:t>
            </a:r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can be shown as a per-image label or as a simple classroom mood summary over time.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C9A"/>
                </a:solidFill>
              </a:rPr>
              <a:t>One-sentence description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4572000"/>
            <a:ext cx="58978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2D3748"/>
                </a:solidFill>
              </a:rPr>
              <a:t>KidMood is a transfer-learning system that classifies facial expressions into four emotions to support classroom awareness and engagement monitoring.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35240" y="1508760"/>
            <a:ext cx="3657600" cy="3749040"/>
          </a:xfrm>
          <a:prstGeom prst="roundRect">
            <a:avLst>
              <a:gd name="adj" fmla="val 1500"/>
            </a:avLst>
          </a:prstGeom>
          <a:solidFill>
            <a:srgbClr val="EAF4FD"/>
          </a:solidFill>
          <a:ln w="12700">
            <a:solidFill>
              <a:srgbClr val="D0E2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82128" y="2423160"/>
            <a:ext cx="8869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7848" y="2496312"/>
            <a:ext cx="795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frame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96528" y="2551176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CA5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933688" y="2423160"/>
            <a:ext cx="8869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9408" y="2496312"/>
            <a:ext cx="795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predicts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48088" y="2551176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CA5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985248" y="2423160"/>
            <a:ext cx="8869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30968" y="2496312"/>
            <a:ext cx="795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+ score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B6877"/>
                </a:solidFill>
              </a:rPr>
              <a:t>Simple, feasible pipeline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Approach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823960" y="402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8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868680"/>
            <a:ext cx="11064240" cy="0"/>
          </a:xfrm>
          <a:prstGeom prst="line">
            <a:avLst/>
          </a:prstGeom>
          <a:noFill/>
          <a:ln w="12700">
            <a:solidFill>
              <a:srgbClr val="C9D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170432"/>
            <a:ext cx="498348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54480"/>
            <a:ext cx="443484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Technique: image classification for facial expression recognition.</a:t>
            </a:r>
            <a:pPr indent="0" marL="0">
              <a:buNone/>
            </a:pPr>
            <a:r>
              <a:rPr lang="en-US" sz="17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MobileNetV2 with transfer learning; backup option: ResNet50.</a:t>
            </a:r>
            <a:pPr indent="0" marL="0">
              <a:buNone/>
            </a:pPr>
            <a:r>
              <a:rPr lang="en-US" sz="17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Framework: TensorFlow/Keras in a Colab notebook.</a:t>
            </a:r>
            <a:pPr indent="0" marL="0">
              <a:buNone/>
            </a:pPr>
            <a:r>
              <a:rPr lang="en-US" sz="17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choice: transfer learning is faster to train, performs well on limited time/resources, and is realistic for a solo student project.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893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C9A"/>
                </a:solidFill>
              </a:rPr>
              <a:t>Model architecture (planned)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70448" y="1965960"/>
            <a:ext cx="1195578" cy="658368"/>
          </a:xfrm>
          <a:prstGeom prst="roundRect">
            <a:avLst>
              <a:gd name="adj" fmla="val 8333"/>
            </a:avLst>
          </a:prstGeom>
          <a:solidFill>
            <a:srgbClr val="EAF4FD"/>
          </a:solidFill>
          <a:ln w="12700">
            <a:solidFill>
              <a:srgbClr val="EAF4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16168" y="2039112"/>
            <a:ext cx="11041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48x48 face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93458" y="2093976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CA5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230618" y="1965960"/>
            <a:ext cx="1195578" cy="658368"/>
          </a:xfrm>
          <a:prstGeom prst="roundRect">
            <a:avLst>
              <a:gd name="adj" fmla="val 8333"/>
            </a:avLst>
          </a:prstGeom>
          <a:solidFill>
            <a:srgbClr val="EAF4FD"/>
          </a:solidFill>
          <a:ln w="12700">
            <a:solidFill>
              <a:srgbClr val="EAF4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76338" y="2039112"/>
            <a:ext cx="11041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Resize to 224x224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53628" y="2093976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CA5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590788" y="1965960"/>
            <a:ext cx="1195578" cy="658368"/>
          </a:xfrm>
          <a:prstGeom prst="roundRect">
            <a:avLst>
              <a:gd name="adj" fmla="val 8333"/>
            </a:avLst>
          </a:prstGeom>
          <a:solidFill>
            <a:srgbClr val="EAF4FD"/>
          </a:solidFill>
          <a:ln w="12700">
            <a:solidFill>
              <a:srgbClr val="EAF4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36508" y="2039112"/>
            <a:ext cx="11041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MobileNetV2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13798" y="2093976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CA5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950958" y="1965960"/>
            <a:ext cx="1195578" cy="658368"/>
          </a:xfrm>
          <a:prstGeom prst="roundRect">
            <a:avLst>
              <a:gd name="adj" fmla="val 8333"/>
            </a:avLst>
          </a:prstGeom>
          <a:solidFill>
            <a:srgbClr val="EAF4FD"/>
          </a:solidFill>
          <a:ln w="12700">
            <a:solidFill>
              <a:srgbClr val="EAF4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96678" y="2039112"/>
            <a:ext cx="11041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+ Softmax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3017520"/>
            <a:ext cx="43434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3291840"/>
            <a:ext cx="38404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Frozen pretrained backbone for feature extraction</a:t>
            </a:r>
            <a:pPr indent="0" marL="0">
              <a:buNone/>
            </a:pPr>
            <a:r>
              <a:rPr lang="en-US" sz="15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average pooling + small dense layer</a:t>
            </a:r>
            <a:pPr indent="0" marL="0">
              <a:buNone/>
            </a:pPr>
            <a:r>
              <a:rPr lang="en-US" sz="15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4-class softmax output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Plan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823960" y="402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8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868680"/>
            <a:ext cx="11064240" cy="0"/>
          </a:xfrm>
          <a:prstGeom prst="line">
            <a:avLst/>
          </a:prstGeom>
          <a:noFill/>
          <a:ln w="12700">
            <a:solidFill>
              <a:srgbClr val="C9D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1097280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600200"/>
            <a:ext cx="2331720" cy="502920"/>
          </a:xfrm>
          <a:prstGeom prst="roundRect">
            <a:avLst>
              <a:gd name="adj" fmla="val 7273"/>
            </a:avLst>
          </a:prstGeom>
          <a:solidFill>
            <a:srgbClr val="EAF4FD"/>
          </a:solidFill>
          <a:ln w="12700">
            <a:solidFill>
              <a:srgbClr val="D0E2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1907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24F"/>
                </a:solidFill>
              </a:rPr>
              <a:t>Source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2240280"/>
            <a:ext cx="2331720" cy="28346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423160"/>
            <a:ext cx="211226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FER-2013 public dataset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0" y="1600200"/>
            <a:ext cx="2331720" cy="502920"/>
          </a:xfrm>
          <a:prstGeom prst="roundRect">
            <a:avLst>
              <a:gd name="adj" fmla="val 7273"/>
            </a:avLst>
          </a:prstGeom>
          <a:solidFill>
            <a:srgbClr val="EAF4FD"/>
          </a:solidFill>
          <a:ln w="12700">
            <a:solidFill>
              <a:srgbClr val="D0E2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71907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24F"/>
                </a:solidFill>
              </a:rPr>
              <a:t>Size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0" y="2240280"/>
            <a:ext cx="2331720" cy="28346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2423160"/>
            <a:ext cx="211226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35,000+ face images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(approx.)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55080" y="1600200"/>
            <a:ext cx="2331720" cy="502920"/>
          </a:xfrm>
          <a:prstGeom prst="roundRect">
            <a:avLst>
              <a:gd name="adj" fmla="val 7273"/>
            </a:avLst>
          </a:prstGeom>
          <a:solidFill>
            <a:srgbClr val="EAF4FD"/>
          </a:solidFill>
          <a:ln w="12700">
            <a:solidFill>
              <a:srgbClr val="D0E2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71907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24F"/>
                </a:solidFill>
              </a:rPr>
              <a:t>Labels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55080" y="2240280"/>
            <a:ext cx="2331720" cy="28346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2423160"/>
            <a:ext cx="211226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Happy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Sad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Angry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Fear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52560" y="1600200"/>
            <a:ext cx="2331720" cy="502920"/>
          </a:xfrm>
          <a:prstGeom prst="roundRect">
            <a:avLst>
              <a:gd name="adj" fmla="val 7273"/>
            </a:avLst>
          </a:prstGeom>
          <a:solidFill>
            <a:srgbClr val="EAF4FD"/>
          </a:solidFill>
          <a:ln w="12700">
            <a:solidFill>
              <a:srgbClr val="D0E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71907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24F"/>
                </a:solidFill>
              </a:rPr>
              <a:t>Preparation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052560" y="2240280"/>
            <a:ext cx="2331720" cy="28346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2288" y="2423160"/>
            <a:ext cx="211226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Normalize pixels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Resize for model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Convert grayscale to 3-channel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Use light augmentation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5440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B6877"/>
                </a:solidFill>
              </a:rPr>
              <a:t>This plan is feasible because the dataset is public, already labeled, and small enough to train with transfer learning in Colab.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Diagram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823960" y="402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8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868680"/>
            <a:ext cx="11064240" cy="0"/>
          </a:xfrm>
          <a:prstGeom prst="line">
            <a:avLst/>
          </a:prstGeom>
          <a:noFill/>
          <a:ln w="12700">
            <a:solidFill>
              <a:srgbClr val="C9D6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877"/>
                </a:solidFill>
              </a:rPr>
              <a:t>[Input] → [Processing Step 1] → [Processing Step 2] → [Output]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011680"/>
            <a:ext cx="2395728" cy="914400"/>
          </a:xfrm>
          <a:prstGeom prst="roundRect">
            <a:avLst>
              <a:gd name="adj" fmla="val 6000"/>
            </a:avLst>
          </a:prstGeom>
          <a:solidFill>
            <a:srgbClr val="EAF4FD"/>
          </a:solidFill>
          <a:ln w="12700">
            <a:solidFill>
              <a:srgbClr val="EAF4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84832"/>
            <a:ext cx="23042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acquisition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2139696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CA5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29000" y="2011680"/>
            <a:ext cx="2395728" cy="914400"/>
          </a:xfrm>
          <a:prstGeom prst="roundRect">
            <a:avLst>
              <a:gd name="adj" fmla="val 6000"/>
            </a:avLst>
          </a:prstGeom>
          <a:solidFill>
            <a:srgbClr val="EAF4FD"/>
          </a:solidFill>
          <a:ln w="12700">
            <a:solidFill>
              <a:srgbClr val="EAF4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084832"/>
            <a:ext cx="23042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2139696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CA5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989320" y="2011680"/>
            <a:ext cx="2395728" cy="914400"/>
          </a:xfrm>
          <a:prstGeom prst="roundRect">
            <a:avLst>
              <a:gd name="adj" fmla="val 6000"/>
            </a:avLst>
          </a:prstGeom>
          <a:solidFill>
            <a:srgbClr val="EAF4FD"/>
          </a:solidFill>
          <a:ln w="12700">
            <a:solidFill>
              <a:srgbClr val="EAF4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084832"/>
            <a:ext cx="23042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inference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2139696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CA5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549640" y="2011680"/>
            <a:ext cx="2395728" cy="914400"/>
          </a:xfrm>
          <a:prstGeom prst="roundRect">
            <a:avLst>
              <a:gd name="adj" fmla="val 6000"/>
            </a:avLst>
          </a:prstGeom>
          <a:solidFill>
            <a:srgbClr val="EAF4FD"/>
          </a:solidFill>
          <a:ln w="12700">
            <a:solidFill>
              <a:srgbClr val="EAF4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2084832"/>
            <a:ext cx="23042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/ visualization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3703320"/>
            <a:ext cx="9829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4133088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D3748"/>
                </a:solidFill>
              </a:rPr>
              <a:t>Camera or dataset image → face crop / resize → MobileNetV2 predicts emotion → show label, confidence score, or class summary.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Success Metrics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823960" y="402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8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868680"/>
            <a:ext cx="11064240" cy="0"/>
          </a:xfrm>
          <a:prstGeom prst="line">
            <a:avLst/>
          </a:prstGeom>
          <a:noFill/>
          <a:ln w="12700">
            <a:solidFill>
              <a:srgbClr val="C9D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234440"/>
            <a:ext cx="507492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1691640"/>
          <a:ext cx="4572000" cy="201168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0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 Type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0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Primary: Accuracy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 70% as a realistic first goal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Secondary: Macro F1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Balanced class performance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Speed / Latency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1 second per image in demo</a:t>
                      </a:r>
                      <a:endParaRPr lang="en-US" sz="13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6012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C9A"/>
                </a:solidFill>
              </a:rPr>
              <a:t>Why use a confusion matrix?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4370832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It shows which emotions get confused with each other, especially Fear vs. Sad or Angry vs. Fear.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C9A"/>
                </a:solidFill>
              </a:rPr>
              <a:t>Sample confusion matrix template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43800" y="1783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877"/>
                </a:solidFill>
              </a:rPr>
              <a:t>Predicted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 rot="16200000">
            <a:off x="5989320" y="3108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877"/>
                </a:solidFill>
              </a:rPr>
              <a:t>Actual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34072" y="201168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EAF4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61504" y="2167128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324F"/>
                </a:solidFill>
              </a:rPr>
              <a:t>Happy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92240" y="256032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EAF4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9672" y="2715768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324F"/>
                </a:solidFill>
              </a:rPr>
              <a:t>Happy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434072" y="256032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EEF8EE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34072" y="267004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8A4A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375904" y="256032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75904" y="267004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317736" y="256032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17736" y="267004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259568" y="256032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259568" y="267004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375904" y="201168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EAF4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03336" y="2167128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324F"/>
                </a:solidFill>
              </a:rPr>
              <a:t>Sad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92240" y="310896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EAF4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19672" y="3264408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324F"/>
                </a:solidFill>
              </a:rPr>
              <a:t>Sad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434072" y="310896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34072" y="321868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375904" y="310896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EEF8EE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75904" y="321868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8A4A"/>
                </a:solidFill>
              </a:rPr>
              <a:t>✔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317736" y="310896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317736" y="321868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0259568" y="310896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259568" y="321868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9317736" y="201168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EAF4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345168" y="2167128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324F"/>
                </a:solidFill>
              </a:rPr>
              <a:t>Angry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492240" y="365760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EAF4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19672" y="3813048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324F"/>
                </a:solidFill>
              </a:rPr>
              <a:t>Angry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7434072" y="365760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34072" y="376732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8375904" y="365760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375904" y="376732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317736" y="365760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EEF8EE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317736" y="376732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8A4A"/>
                </a:solidFill>
              </a:rPr>
              <a:t>✔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10259568" y="365760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259568" y="376732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10259568" y="201168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EAF4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287000" y="2167128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324F"/>
                </a:solidFill>
              </a:rPr>
              <a:t>Fear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6492240" y="420624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EAF4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519672" y="4361688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324F"/>
                </a:solidFill>
              </a:rPr>
              <a:t>Fear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7434072" y="420624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434072" y="431596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8375904" y="420624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375904" y="431596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9317736" y="420624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317736" y="431596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10259568" y="4206240"/>
            <a:ext cx="941832" cy="548640"/>
          </a:xfrm>
          <a:prstGeom prst="roundRect">
            <a:avLst>
              <a:gd name="adj" fmla="val 3333"/>
            </a:avLst>
          </a:prstGeom>
          <a:solidFill>
            <a:srgbClr val="EEF8EE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259568" y="431596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8A4A"/>
                </a:solidFill>
              </a:rPr>
              <a:t>✔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Week-by-Week Plan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823960" y="402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8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868680"/>
            <a:ext cx="11064240" cy="0"/>
          </a:xfrm>
          <a:prstGeom prst="line">
            <a:avLst/>
          </a:prstGeom>
          <a:noFill/>
          <a:ln w="12700">
            <a:solidFill>
              <a:srgbClr val="C9D6E6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417320"/>
          <a:ext cx="10698480" cy="4114800"/>
        </p:xfrm>
        <a:graphic>
          <a:graphicData uri="http://schemas.openxmlformats.org/drawingml/2006/table">
            <a:tbl>
              <a:tblPr/>
              <a:tblGrid>
                <a:gridCol w="1554480"/>
                <a:gridCol w="5669280"/>
                <a:gridCol w="29260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0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0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Task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0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Milestone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(Oct 30)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 dataset, set up environment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Dataset ready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 (Nov 6)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Train / fine-tune MobileNetV2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working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 (Nov 13)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 and improve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Good accuracy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 (Nov 20)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 demo visuals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 ready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 (Nov 27)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Final testing and documentation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Everything done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 (Dec 4)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Present project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Presentation day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68680" y="571500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5B6877"/>
                </a:solidFill>
              </a:rPr>
              <a:t>This timeline keeps the scope practical and achievable for a solo student project.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and Backup Plans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823960" y="402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8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868680"/>
            <a:ext cx="11064240" cy="0"/>
          </a:xfrm>
          <a:prstGeom prst="line">
            <a:avLst/>
          </a:prstGeom>
          <a:noFill/>
          <a:ln w="12700">
            <a:solidFill>
              <a:srgbClr val="C9D6E6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54480"/>
          <a:ext cx="10607040" cy="3429000"/>
        </p:xfrm>
        <a:graphic>
          <a:graphicData uri="http://schemas.openxmlformats.org/drawingml/2006/table">
            <a:tbl>
              <a:tblPr/>
              <a:tblGrid>
                <a:gridCol w="2834640"/>
                <a:gridCol w="1417320"/>
                <a:gridCol w="635508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0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Challenge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0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Probability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0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Plan B / Mitigation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Accuracy too low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augmentation, tune learning rate, or try ResNet50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Classes are imbalanced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class weights and macro F1-score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Fear gets confused with Sad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Inspect confusion matrix and adjust training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 setup is unstable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prerecorded examples and screenshots</a:t>
                      </a:r>
                      <a:endParaRPr lang="en-US" sz="14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46120" y="5440680"/>
            <a:ext cx="5715000" cy="420624"/>
          </a:xfrm>
          <a:prstGeom prst="roundRect">
            <a:avLst>
              <a:gd name="adj" fmla="val 17391"/>
            </a:avLst>
          </a:prstGeom>
          <a:solidFill>
            <a:srgbClr val="B54D4D"/>
          </a:solidFill>
          <a:ln w="12700">
            <a:solidFill>
              <a:srgbClr val="B54D4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319272" y="5486400"/>
            <a:ext cx="5568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backup plans keep the project feasible.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Resources Needed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823960" y="402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8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868680"/>
            <a:ext cx="11064240" cy="0"/>
          </a:xfrm>
          <a:prstGeom prst="line">
            <a:avLst/>
          </a:prstGeom>
          <a:noFill/>
          <a:ln w="12700">
            <a:solidFill>
              <a:srgbClr val="C9D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508760"/>
            <a:ext cx="1010412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9E3EE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17320" y="1901952"/>
          <a:ext cx="9281160" cy="2331720"/>
        </p:xfrm>
        <a:graphic>
          <a:graphicData uri="http://schemas.openxmlformats.org/drawingml/2006/table">
            <a:tbl>
              <a:tblPr/>
              <a:tblGrid>
                <a:gridCol w="2286000"/>
                <a:gridCol w="69951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0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Resource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0324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Options / Notes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Compute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Google Colab (free) or local machine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Frameworks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TensorFlow/Keras, NumPy, scikit-learn, Matplotlib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Estimated Cost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Deliverables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374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Slides, README, starter notebook, proposal PDF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417320" y="4663440"/>
            <a:ext cx="9235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D3748"/>
                </a:solidFill>
              </a:rPr>
              <a:t>This proposal is intentionally scoped for an “easy 90”: public dataset, standard model, free tools, and a realistic timeline.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KidMood: Classroom Emotion Recognition</dc:title>
  <dc:subject>ITAI 1378 Midterm Project Proposal</dc:subject>
  <dc:creator>OpenAI</dc:creator>
  <cp:lastModifiedBy>OpenAI</cp:lastModifiedBy>
  <cp:revision>1</cp:revision>
  <dcterms:created xsi:type="dcterms:W3CDTF">2026-03-06T21:27:23Z</dcterms:created>
  <dcterms:modified xsi:type="dcterms:W3CDTF">2026-03-06T21:27:23Z</dcterms:modified>
</cp:coreProperties>
</file>